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6029" y="4391422"/>
            <a:ext cx="2776691" cy="1116957"/>
            <a:chOff x="0" y="0"/>
            <a:chExt cx="101028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287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87">
                  <a:moveTo>
                    <a:pt x="807087" y="0"/>
                  </a:moveTo>
                  <a:cubicBezTo>
                    <a:pt x="919312" y="0"/>
                    <a:pt x="1010287" y="90976"/>
                    <a:pt x="1010287" y="203200"/>
                  </a:cubicBezTo>
                  <a:cubicBezTo>
                    <a:pt x="1010287" y="315424"/>
                    <a:pt x="919312" y="406400"/>
                    <a:pt x="807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1028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51057" y="6896155"/>
            <a:ext cx="3081111" cy="1116957"/>
            <a:chOff x="0" y="0"/>
            <a:chExt cx="112104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049" cy="406400"/>
            </a:xfrm>
            <a:custGeom>
              <a:avLst/>
              <a:gdLst/>
              <a:ahLst/>
              <a:cxnLst/>
              <a:rect r="r" b="b" t="t" l="l"/>
              <a:pathLst>
                <a:path h="406400" w="1121049">
                  <a:moveTo>
                    <a:pt x="917849" y="0"/>
                  </a:moveTo>
                  <a:cubicBezTo>
                    <a:pt x="1030074" y="0"/>
                    <a:pt x="1121049" y="90976"/>
                    <a:pt x="1121049" y="203200"/>
                  </a:cubicBezTo>
                  <a:cubicBezTo>
                    <a:pt x="1121049" y="315424"/>
                    <a:pt x="1030074" y="406400"/>
                    <a:pt x="917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2104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91667" y="6896155"/>
            <a:ext cx="2969957" cy="1116957"/>
            <a:chOff x="0" y="0"/>
            <a:chExt cx="108060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0607" cy="406400"/>
            </a:xfrm>
            <a:custGeom>
              <a:avLst/>
              <a:gdLst/>
              <a:ahLst/>
              <a:cxnLst/>
              <a:rect r="r" b="b" t="t" l="l"/>
              <a:pathLst>
                <a:path h="406400" w="1080607">
                  <a:moveTo>
                    <a:pt x="877407" y="0"/>
                  </a:moveTo>
                  <a:cubicBezTo>
                    <a:pt x="989631" y="0"/>
                    <a:pt x="1080607" y="90976"/>
                    <a:pt x="1080607" y="203200"/>
                  </a:cubicBezTo>
                  <a:cubicBezTo>
                    <a:pt x="1080607" y="315424"/>
                    <a:pt x="989631" y="406400"/>
                    <a:pt x="8774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8060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1866762" y="4391422"/>
            <a:ext cx="2776536" cy="1116957"/>
            <a:chOff x="0" y="0"/>
            <a:chExt cx="1010231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0231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31">
                  <a:moveTo>
                    <a:pt x="807031" y="0"/>
                  </a:moveTo>
                  <a:cubicBezTo>
                    <a:pt x="919255" y="0"/>
                    <a:pt x="1010231" y="90976"/>
                    <a:pt x="1010231" y="203200"/>
                  </a:cubicBezTo>
                  <a:cubicBezTo>
                    <a:pt x="1010231" y="315424"/>
                    <a:pt x="919255" y="406400"/>
                    <a:pt x="8070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1023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0571220" y="2272005"/>
            <a:ext cx="2928275" cy="1116957"/>
            <a:chOff x="0" y="0"/>
            <a:chExt cx="106544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5440" cy="406400"/>
            </a:xfrm>
            <a:custGeom>
              <a:avLst/>
              <a:gdLst/>
              <a:ahLst/>
              <a:cxnLst/>
              <a:rect r="r" b="b" t="t" l="l"/>
              <a:pathLst>
                <a:path h="406400" w="1065440">
                  <a:moveTo>
                    <a:pt x="862240" y="0"/>
                  </a:moveTo>
                  <a:cubicBezTo>
                    <a:pt x="974465" y="0"/>
                    <a:pt x="1065440" y="90976"/>
                    <a:pt x="1065440" y="203200"/>
                  </a:cubicBezTo>
                  <a:cubicBezTo>
                    <a:pt x="1065440" y="315424"/>
                    <a:pt x="974465" y="406400"/>
                    <a:pt x="8622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65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2314164" y="276622"/>
            <a:ext cx="2956063" cy="1116957"/>
            <a:chOff x="0" y="0"/>
            <a:chExt cx="1075551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5551" cy="406400"/>
            </a:xfrm>
            <a:custGeom>
              <a:avLst/>
              <a:gdLst/>
              <a:ahLst/>
              <a:cxnLst/>
              <a:rect r="r" b="b" t="t" l="l"/>
              <a:pathLst>
                <a:path h="406400" w="1075551">
                  <a:moveTo>
                    <a:pt x="872351" y="0"/>
                  </a:moveTo>
                  <a:cubicBezTo>
                    <a:pt x="984575" y="0"/>
                    <a:pt x="1075551" y="90976"/>
                    <a:pt x="1075551" y="203200"/>
                  </a:cubicBezTo>
                  <a:cubicBezTo>
                    <a:pt x="1075551" y="315424"/>
                    <a:pt x="984575" y="406400"/>
                    <a:pt x="8723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7555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3792196" y="4391422"/>
            <a:ext cx="3138708" cy="1116957"/>
            <a:chOff x="0" y="0"/>
            <a:chExt cx="1142006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2006" cy="406400"/>
            </a:xfrm>
            <a:custGeom>
              <a:avLst/>
              <a:gdLst/>
              <a:ahLst/>
              <a:cxnLst/>
              <a:rect r="r" b="b" t="t" l="l"/>
              <a:pathLst>
                <a:path h="406400" w="1142006">
                  <a:moveTo>
                    <a:pt x="938806" y="0"/>
                  </a:moveTo>
                  <a:cubicBezTo>
                    <a:pt x="1051030" y="0"/>
                    <a:pt x="1142006" y="90976"/>
                    <a:pt x="1142006" y="203200"/>
                  </a:cubicBezTo>
                  <a:cubicBezTo>
                    <a:pt x="1142006" y="315424"/>
                    <a:pt x="1051030" y="406400"/>
                    <a:pt x="9388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4200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872720" y="2272005"/>
            <a:ext cx="2914381" cy="1116957"/>
            <a:chOff x="0" y="0"/>
            <a:chExt cx="1060385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385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385">
                  <a:moveTo>
                    <a:pt x="857185" y="0"/>
                  </a:moveTo>
                  <a:cubicBezTo>
                    <a:pt x="969409" y="0"/>
                    <a:pt x="1060385" y="90976"/>
                    <a:pt x="1060385" y="203200"/>
                  </a:cubicBezTo>
                  <a:cubicBezTo>
                    <a:pt x="1060385" y="315424"/>
                    <a:pt x="969409" y="406400"/>
                    <a:pt x="8571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6038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4643298" y="276622"/>
            <a:ext cx="2914535" cy="1116957"/>
            <a:chOff x="0" y="0"/>
            <a:chExt cx="1060441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441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441">
                  <a:moveTo>
                    <a:pt x="857241" y="0"/>
                  </a:moveTo>
                  <a:cubicBezTo>
                    <a:pt x="969466" y="0"/>
                    <a:pt x="1060441" y="90976"/>
                    <a:pt x="1060441" y="203200"/>
                  </a:cubicBezTo>
                  <a:cubicBezTo>
                    <a:pt x="1060441" y="315424"/>
                    <a:pt x="969466" y="406400"/>
                    <a:pt x="85724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60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66762" y="4391422"/>
            <a:ext cx="1168590" cy="116859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389243" y="6844522"/>
            <a:ext cx="1168590" cy="116859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96029" y="2272005"/>
            <a:ext cx="1168590" cy="116859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66762" y="276622"/>
            <a:ext cx="1168590" cy="116859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33425" y="1125508"/>
            <a:ext cx="8314854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Churn &amp; Lifetime Value (CLTV) Prediction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3837" y="7759131"/>
            <a:ext cx="227024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3837" y="8290732"/>
            <a:ext cx="3019161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Komal Bhat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Siddhi Mankar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Aadit Lele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Karthik Swaroop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3425" y="4680538"/>
            <a:ext cx="6579147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Behavior Analysis using RFM, BG/NBD, Gamma-Gamma &amp; K-Means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0970" y="8133781"/>
            <a:ext cx="1144017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Churn: When a customer stops purchasing from a company.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CLTV: The estimated value a customer can generate during their relationship with a company.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60141" y="1028700"/>
            <a:ext cx="5246370" cy="8229600"/>
            <a:chOff x="0" y="0"/>
            <a:chExt cx="812800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74980"/>
            </a:xfrm>
            <a:custGeom>
              <a:avLst/>
              <a:gdLst/>
              <a:ahLst/>
              <a:cxnLst/>
              <a:rect r="r" b="b" t="t" l="l"/>
              <a:pathLst>
                <a:path h="127498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2"/>
              <a:stretch>
                <a:fillRect l="-67720" t="0" r="-6772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7813885">
            <a:off x="9555930" y="2643314"/>
            <a:ext cx="2598127" cy="844761"/>
            <a:chOff x="0" y="0"/>
            <a:chExt cx="124991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7813885">
            <a:off x="14691319" y="7271759"/>
            <a:ext cx="2598127" cy="844761"/>
            <a:chOff x="0" y="0"/>
            <a:chExt cx="1249914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3378727">
            <a:off x="15763319" y="7322388"/>
            <a:ext cx="2598127" cy="844761"/>
            <a:chOff x="0" y="0"/>
            <a:chExt cx="1249914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986114">
            <a:off x="9642255" y="3565162"/>
            <a:ext cx="883812" cy="88381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986114">
            <a:off x="14777643" y="8193608"/>
            <a:ext cx="883812" cy="88381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7421272">
            <a:off x="17233285" y="8203585"/>
            <a:ext cx="883812" cy="88381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9204" y="1050937"/>
            <a:ext cx="5739392" cy="158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6"/>
              </a:lnSpc>
            </a:pPr>
            <a:r>
              <a:rPr lang="en-US" sz="6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9204" y="2838033"/>
            <a:ext cx="8982171" cy="225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E-commerce companies need to understand customer behavior to identify customers who may stop purchasing and customers who generate high future value.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9204" y="5586416"/>
            <a:ext cx="5739392" cy="84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6"/>
              </a:lnSpc>
            </a:pPr>
            <a:r>
              <a:rPr lang="en-US" sz="6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829" y="6629599"/>
            <a:ext cx="8982171" cy="33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Analyze customer transaction behavior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Create RFM and Tenure features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Predict customer churn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Estimate Customer Lifetime Value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Segment customers based on behavior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9304" y="953889"/>
            <a:ext cx="1168590" cy="11685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73951" y="1028700"/>
            <a:ext cx="1245696" cy="12456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12002" y="1643918"/>
            <a:ext cx="3396807" cy="8229600"/>
            <a:chOff x="0" y="0"/>
            <a:chExt cx="526254" cy="1274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6254" cy="1274980"/>
            </a:xfrm>
            <a:custGeom>
              <a:avLst/>
              <a:gdLst/>
              <a:ahLst/>
              <a:cxnLst/>
              <a:rect r="r" b="b" t="t" l="l"/>
              <a:pathLst>
                <a:path h="1274980" w="526254">
                  <a:moveTo>
                    <a:pt x="52421" y="0"/>
                  </a:moveTo>
                  <a:lnTo>
                    <a:pt x="473833" y="0"/>
                  </a:lnTo>
                  <a:cubicBezTo>
                    <a:pt x="487736" y="0"/>
                    <a:pt x="501070" y="5523"/>
                    <a:pt x="510901" y="15354"/>
                  </a:cubicBezTo>
                  <a:cubicBezTo>
                    <a:pt x="520731" y="25185"/>
                    <a:pt x="526254" y="38518"/>
                    <a:pt x="526254" y="52421"/>
                  </a:cubicBezTo>
                  <a:lnTo>
                    <a:pt x="526254" y="1222559"/>
                  </a:lnTo>
                  <a:cubicBezTo>
                    <a:pt x="526254" y="1236462"/>
                    <a:pt x="520731" y="1249796"/>
                    <a:pt x="510901" y="1259627"/>
                  </a:cubicBezTo>
                  <a:cubicBezTo>
                    <a:pt x="501070" y="1269457"/>
                    <a:pt x="487736" y="1274980"/>
                    <a:pt x="473833" y="1274980"/>
                  </a:cubicBezTo>
                  <a:lnTo>
                    <a:pt x="52421" y="1274980"/>
                  </a:lnTo>
                  <a:cubicBezTo>
                    <a:pt x="38518" y="1274980"/>
                    <a:pt x="25185" y="1269457"/>
                    <a:pt x="15354" y="1259627"/>
                  </a:cubicBezTo>
                  <a:cubicBezTo>
                    <a:pt x="5523" y="1249796"/>
                    <a:pt x="0" y="1236462"/>
                    <a:pt x="0" y="1222559"/>
                  </a:cubicBezTo>
                  <a:lnTo>
                    <a:pt x="0" y="52421"/>
                  </a:lnTo>
                  <a:cubicBezTo>
                    <a:pt x="0" y="38518"/>
                    <a:pt x="5523" y="25185"/>
                    <a:pt x="15354" y="15354"/>
                  </a:cubicBezTo>
                  <a:cubicBezTo>
                    <a:pt x="25185" y="5523"/>
                    <a:pt x="38518" y="0"/>
                    <a:pt x="52421" y="0"/>
                  </a:cubicBezTo>
                  <a:close/>
                </a:path>
              </a:pathLst>
            </a:custGeom>
            <a:blipFill>
              <a:blip r:embed="rId2"/>
              <a:stretch>
                <a:fillRect l="-131540" t="0" r="-13154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801348" y="5075213"/>
            <a:ext cx="473307" cy="456095"/>
          </a:xfrm>
          <a:custGeom>
            <a:avLst/>
            <a:gdLst/>
            <a:ahLst/>
            <a:cxnLst/>
            <a:rect r="r" b="b" t="t" l="l"/>
            <a:pathLst>
              <a:path h="456095" w="473307">
                <a:moveTo>
                  <a:pt x="0" y="0"/>
                </a:moveTo>
                <a:lnTo>
                  <a:pt x="473307" y="0"/>
                </a:lnTo>
                <a:lnTo>
                  <a:pt x="473307" y="456095"/>
                </a:lnTo>
                <a:lnTo>
                  <a:pt x="0" y="456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95218" y="1310137"/>
            <a:ext cx="396764" cy="444440"/>
          </a:xfrm>
          <a:custGeom>
            <a:avLst/>
            <a:gdLst/>
            <a:ahLst/>
            <a:cxnLst/>
            <a:rect r="r" b="b" t="t" l="l"/>
            <a:pathLst>
              <a:path h="444440" w="396764">
                <a:moveTo>
                  <a:pt x="0" y="0"/>
                </a:moveTo>
                <a:lnTo>
                  <a:pt x="396764" y="0"/>
                </a:lnTo>
                <a:lnTo>
                  <a:pt x="396764" y="444440"/>
                </a:lnTo>
                <a:lnTo>
                  <a:pt x="0" y="444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28479" y="1344737"/>
            <a:ext cx="536640" cy="613621"/>
          </a:xfrm>
          <a:custGeom>
            <a:avLst/>
            <a:gdLst/>
            <a:ahLst/>
            <a:cxnLst/>
            <a:rect r="r" b="b" t="t" l="l"/>
            <a:pathLst>
              <a:path h="613621" w="536640">
                <a:moveTo>
                  <a:pt x="0" y="0"/>
                </a:moveTo>
                <a:lnTo>
                  <a:pt x="536640" y="0"/>
                </a:lnTo>
                <a:lnTo>
                  <a:pt x="536640" y="613621"/>
                </a:lnTo>
                <a:lnTo>
                  <a:pt x="0" y="613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0967" y="1049139"/>
            <a:ext cx="4141638" cy="95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69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7773" y="2322081"/>
            <a:ext cx="4875827" cy="112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UCI Online Retail II Dataset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7773" y="3522405"/>
            <a:ext cx="5690029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It contains e-commerce transaction information such as: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Invoice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StockCode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Quantity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Price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InvoiceDate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ID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Country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333137" y="2726690"/>
            <a:ext cx="6140814" cy="653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Raw Data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↓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Remove Missing Customer IDs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↓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Remove Cancelled Orders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↓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Remove Invalid Quantities &amp; Prices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↓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Remove Non-Product Codes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↓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IQR Outlier Treatment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430" y="808281"/>
            <a:ext cx="6139522" cy="160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2"/>
              </a:lnSpc>
            </a:pPr>
            <a:r>
              <a:rPr lang="en-US" sz="62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762" y="1607517"/>
            <a:ext cx="5779185" cy="3449693"/>
            <a:chOff x="0" y="0"/>
            <a:chExt cx="136166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664" cy="812800"/>
            </a:xfrm>
            <a:custGeom>
              <a:avLst/>
              <a:gdLst/>
              <a:ahLst/>
              <a:cxnLst/>
              <a:rect r="r" b="b" t="t" l="l"/>
              <a:pathLst>
                <a:path h="812800" w="1361664">
                  <a:moveTo>
                    <a:pt x="68321" y="0"/>
                  </a:moveTo>
                  <a:lnTo>
                    <a:pt x="1293343" y="0"/>
                  </a:lnTo>
                  <a:cubicBezTo>
                    <a:pt x="1331075" y="0"/>
                    <a:pt x="1361664" y="30588"/>
                    <a:pt x="1361664" y="68321"/>
                  </a:cubicBezTo>
                  <a:lnTo>
                    <a:pt x="1361664" y="744479"/>
                  </a:lnTo>
                  <a:cubicBezTo>
                    <a:pt x="1361664" y="782212"/>
                    <a:pt x="1331075" y="812800"/>
                    <a:pt x="1293343" y="812800"/>
                  </a:cubicBezTo>
                  <a:lnTo>
                    <a:pt x="68321" y="812800"/>
                  </a:lnTo>
                  <a:cubicBezTo>
                    <a:pt x="30588" y="812800"/>
                    <a:pt x="0" y="782212"/>
                    <a:pt x="0" y="744479"/>
                  </a:cubicBezTo>
                  <a:lnTo>
                    <a:pt x="0" y="68321"/>
                  </a:lnTo>
                  <a:cubicBezTo>
                    <a:pt x="0" y="30588"/>
                    <a:pt x="30588" y="0"/>
                    <a:pt x="68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61664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32209" y="5546981"/>
            <a:ext cx="5779185" cy="3449693"/>
            <a:chOff x="0" y="0"/>
            <a:chExt cx="136166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1664" cy="812800"/>
            </a:xfrm>
            <a:custGeom>
              <a:avLst/>
              <a:gdLst/>
              <a:ahLst/>
              <a:cxnLst/>
              <a:rect r="r" b="b" t="t" l="l"/>
              <a:pathLst>
                <a:path h="812800" w="1361664">
                  <a:moveTo>
                    <a:pt x="68321" y="0"/>
                  </a:moveTo>
                  <a:lnTo>
                    <a:pt x="1293343" y="0"/>
                  </a:lnTo>
                  <a:cubicBezTo>
                    <a:pt x="1331075" y="0"/>
                    <a:pt x="1361664" y="30588"/>
                    <a:pt x="1361664" y="68321"/>
                  </a:cubicBezTo>
                  <a:lnTo>
                    <a:pt x="1361664" y="744479"/>
                  </a:lnTo>
                  <a:cubicBezTo>
                    <a:pt x="1361664" y="782212"/>
                    <a:pt x="1331075" y="812800"/>
                    <a:pt x="1293343" y="812800"/>
                  </a:cubicBezTo>
                  <a:lnTo>
                    <a:pt x="68321" y="812800"/>
                  </a:lnTo>
                  <a:cubicBezTo>
                    <a:pt x="30588" y="812800"/>
                    <a:pt x="0" y="782212"/>
                    <a:pt x="0" y="744479"/>
                  </a:cubicBezTo>
                  <a:lnTo>
                    <a:pt x="0" y="68321"/>
                  </a:lnTo>
                  <a:cubicBezTo>
                    <a:pt x="0" y="30588"/>
                    <a:pt x="30588" y="0"/>
                    <a:pt x="68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61664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9762" y="5546981"/>
            <a:ext cx="5779185" cy="3449693"/>
            <a:chOff x="0" y="0"/>
            <a:chExt cx="136166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664" cy="812800"/>
            </a:xfrm>
            <a:custGeom>
              <a:avLst/>
              <a:gdLst/>
              <a:ahLst/>
              <a:cxnLst/>
              <a:rect r="r" b="b" t="t" l="l"/>
              <a:pathLst>
                <a:path h="812800" w="1361664">
                  <a:moveTo>
                    <a:pt x="68321" y="0"/>
                  </a:moveTo>
                  <a:lnTo>
                    <a:pt x="1293343" y="0"/>
                  </a:lnTo>
                  <a:cubicBezTo>
                    <a:pt x="1331075" y="0"/>
                    <a:pt x="1361664" y="30588"/>
                    <a:pt x="1361664" y="68321"/>
                  </a:cubicBezTo>
                  <a:lnTo>
                    <a:pt x="1361664" y="744479"/>
                  </a:lnTo>
                  <a:cubicBezTo>
                    <a:pt x="1361664" y="782212"/>
                    <a:pt x="1331075" y="812800"/>
                    <a:pt x="1293343" y="812800"/>
                  </a:cubicBezTo>
                  <a:lnTo>
                    <a:pt x="68321" y="812800"/>
                  </a:lnTo>
                  <a:cubicBezTo>
                    <a:pt x="30588" y="812800"/>
                    <a:pt x="0" y="782212"/>
                    <a:pt x="0" y="744479"/>
                  </a:cubicBezTo>
                  <a:lnTo>
                    <a:pt x="0" y="68321"/>
                  </a:lnTo>
                  <a:cubicBezTo>
                    <a:pt x="0" y="30588"/>
                    <a:pt x="30588" y="0"/>
                    <a:pt x="68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61664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32209" y="1607517"/>
            <a:ext cx="5779185" cy="3449693"/>
            <a:chOff x="0" y="0"/>
            <a:chExt cx="136166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1664" cy="812800"/>
            </a:xfrm>
            <a:custGeom>
              <a:avLst/>
              <a:gdLst/>
              <a:ahLst/>
              <a:cxnLst/>
              <a:rect r="r" b="b" t="t" l="l"/>
              <a:pathLst>
                <a:path h="812800" w="1361664">
                  <a:moveTo>
                    <a:pt x="68321" y="0"/>
                  </a:moveTo>
                  <a:lnTo>
                    <a:pt x="1293343" y="0"/>
                  </a:lnTo>
                  <a:cubicBezTo>
                    <a:pt x="1331075" y="0"/>
                    <a:pt x="1361664" y="30588"/>
                    <a:pt x="1361664" y="68321"/>
                  </a:cubicBezTo>
                  <a:lnTo>
                    <a:pt x="1361664" y="744479"/>
                  </a:lnTo>
                  <a:cubicBezTo>
                    <a:pt x="1361664" y="782212"/>
                    <a:pt x="1331075" y="812800"/>
                    <a:pt x="1293343" y="812800"/>
                  </a:cubicBezTo>
                  <a:lnTo>
                    <a:pt x="68321" y="812800"/>
                  </a:lnTo>
                  <a:cubicBezTo>
                    <a:pt x="30588" y="812800"/>
                    <a:pt x="0" y="782212"/>
                    <a:pt x="0" y="744479"/>
                  </a:cubicBezTo>
                  <a:lnTo>
                    <a:pt x="0" y="68321"/>
                  </a:lnTo>
                  <a:cubicBezTo>
                    <a:pt x="0" y="30588"/>
                    <a:pt x="30588" y="0"/>
                    <a:pt x="68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61664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228988"/>
            <a:ext cx="15265058" cy="90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RFM &amp; Tenure Feature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8495" y="1943346"/>
            <a:ext cx="5580453" cy="224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— Recency</a:t>
            </a:r>
          </a:p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Days since last purchase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ower value → more recently active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630941" y="1943346"/>
            <a:ext cx="5580453" cy="314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 — Frequency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Numb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 of uniqu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completed orders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Higher value → more frequent purchases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</a:p>
          <a:p>
            <a:pPr algn="ctr">
              <a:lnSpc>
                <a:spcPts val="353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48495" y="5822139"/>
            <a:ext cx="5580453" cy="180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 — Monetary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otal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customer spending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Higher value → higher contribution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630941" y="5822139"/>
            <a:ext cx="5580453" cy="224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— Tenure</a:t>
            </a:r>
          </a:p>
          <a:p>
            <a:pPr algn="l">
              <a:lnSpc>
                <a:spcPts val="3539"/>
              </a:lnSpc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Days since firs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purchase</a:t>
            </a: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customer </a:t>
            </a:r>
            <a:r>
              <a:rPr lang="en-US" sz="2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relationship duration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76717" y="9396724"/>
            <a:ext cx="7767283" cy="174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  <a:spcBef>
                <a:spcPct val="0"/>
              </a:spcBef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4,285</a:t>
            </a: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customer p</a:t>
            </a: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rofiles generated</a:t>
            </a:r>
          </a:p>
          <a:p>
            <a:pPr algn="l">
              <a:lnSpc>
                <a:spcPts val="3431"/>
              </a:lnSpc>
              <a:spcBef>
                <a:spcPct val="0"/>
              </a:spcBef>
            </a:pPr>
          </a:p>
          <a:p>
            <a:pPr algn="l">
              <a:lnSpc>
                <a:spcPts val="3431"/>
              </a:lnSpc>
              <a:spcBef>
                <a:spcPct val="0"/>
              </a:spcBef>
            </a:pPr>
          </a:p>
          <a:p>
            <a:pPr algn="ctr">
              <a:lnSpc>
                <a:spcPts val="3431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8907094">
            <a:off x="13410139" y="8693452"/>
            <a:ext cx="2598127" cy="844761"/>
            <a:chOff x="0" y="0"/>
            <a:chExt cx="1249914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8907094">
            <a:off x="16511493" y="8984940"/>
            <a:ext cx="2598127" cy="844761"/>
            <a:chOff x="0" y="0"/>
            <a:chExt cx="1249914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204238">
            <a:off x="14860822" y="8762773"/>
            <a:ext cx="2598127" cy="844761"/>
            <a:chOff x="0" y="0"/>
            <a:chExt cx="1249914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892905">
            <a:off x="13240773" y="9327087"/>
            <a:ext cx="883812" cy="88381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8595761">
            <a:off x="16597146" y="9386599"/>
            <a:ext cx="883812" cy="88381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8907094">
            <a:off x="15827758" y="567116"/>
            <a:ext cx="2598127" cy="844761"/>
            <a:chOff x="0" y="0"/>
            <a:chExt cx="1249914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2204238">
            <a:off x="17278442" y="636437"/>
            <a:ext cx="2598127" cy="844761"/>
            <a:chOff x="0" y="0"/>
            <a:chExt cx="1249914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1892905">
            <a:off x="15658392" y="1200750"/>
            <a:ext cx="883812" cy="883812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20294" y="0"/>
            <a:ext cx="7018821" cy="10287000"/>
          </a:xfrm>
          <a:custGeom>
            <a:avLst/>
            <a:gdLst/>
            <a:ahLst/>
            <a:cxnLst/>
            <a:rect r="r" b="b" t="t" l="l"/>
            <a:pathLst>
              <a:path h="10287000" w="7018821">
                <a:moveTo>
                  <a:pt x="0" y="0"/>
                </a:moveTo>
                <a:lnTo>
                  <a:pt x="7018821" y="0"/>
                </a:lnTo>
                <a:lnTo>
                  <a:pt x="701882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72" r="0" b="-117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81" y="4266371"/>
            <a:ext cx="8921419" cy="136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7"/>
              </a:lnSpc>
            </a:pPr>
            <a:r>
              <a:rPr lang="en-US" sz="97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grpSp>
        <p:nvGrpSpPr>
          <p:cNvPr name="Group 4" id="4"/>
          <p:cNvGrpSpPr/>
          <p:nvPr/>
        </p:nvGrpSpPr>
        <p:grpSpPr>
          <a:xfrm rot="8907094">
            <a:off x="150855" y="463852"/>
            <a:ext cx="2598127" cy="844761"/>
            <a:chOff x="0" y="0"/>
            <a:chExt cx="124991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8907094">
            <a:off x="3252209" y="755340"/>
            <a:ext cx="2598127" cy="844761"/>
            <a:chOff x="0" y="0"/>
            <a:chExt cx="1249914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204238">
            <a:off x="1601538" y="533173"/>
            <a:ext cx="2598127" cy="844761"/>
            <a:chOff x="0" y="0"/>
            <a:chExt cx="1249914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892905">
            <a:off x="-18511" y="1097487"/>
            <a:ext cx="883812" cy="88381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8595761">
            <a:off x="3337862" y="1156999"/>
            <a:ext cx="883812" cy="88381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8907094">
            <a:off x="-162992" y="8861691"/>
            <a:ext cx="2598127" cy="844761"/>
            <a:chOff x="0" y="0"/>
            <a:chExt cx="1249914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907094">
            <a:off x="2938362" y="9153179"/>
            <a:ext cx="2598127" cy="844761"/>
            <a:chOff x="0" y="0"/>
            <a:chExt cx="1249914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2204238">
            <a:off x="1287691" y="8931013"/>
            <a:ext cx="2598127" cy="844761"/>
            <a:chOff x="0" y="0"/>
            <a:chExt cx="1249914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892905">
            <a:off x="-332358" y="9495326"/>
            <a:ext cx="883812" cy="88381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595761">
            <a:off x="3024016" y="9554838"/>
            <a:ext cx="883812" cy="88381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99748">
            <a:off x="-391769" y="8496149"/>
            <a:ext cx="2598127" cy="844761"/>
            <a:chOff x="0" y="0"/>
            <a:chExt cx="124991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099748">
            <a:off x="1104237" y="8496149"/>
            <a:ext cx="2598127" cy="844761"/>
            <a:chOff x="0" y="0"/>
            <a:chExt cx="124991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826840">
            <a:off x="2497402" y="8558917"/>
            <a:ext cx="2598127" cy="844761"/>
            <a:chOff x="0" y="0"/>
            <a:chExt cx="1249914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3378727">
            <a:off x="1193032" y="9370420"/>
            <a:ext cx="883812" cy="88381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3378727">
            <a:off x="4493246" y="9370420"/>
            <a:ext cx="883812" cy="88381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3378727">
            <a:off x="2648643" y="9370420"/>
            <a:ext cx="883812" cy="88381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04398" y="3369782"/>
            <a:ext cx="5454869" cy="3966868"/>
            <a:chOff x="0" y="0"/>
            <a:chExt cx="1436673" cy="10447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6673" cy="1044772"/>
            </a:xfrm>
            <a:custGeom>
              <a:avLst/>
              <a:gdLst/>
              <a:ahLst/>
              <a:cxnLst/>
              <a:rect r="r" b="b" t="t" l="l"/>
              <a:pathLst>
                <a:path h="1044772" w="1436673">
                  <a:moveTo>
                    <a:pt x="72383" y="0"/>
                  </a:moveTo>
                  <a:lnTo>
                    <a:pt x="1364291" y="0"/>
                  </a:lnTo>
                  <a:cubicBezTo>
                    <a:pt x="1383488" y="0"/>
                    <a:pt x="1401899" y="7626"/>
                    <a:pt x="1415473" y="21200"/>
                  </a:cubicBezTo>
                  <a:cubicBezTo>
                    <a:pt x="1429047" y="34775"/>
                    <a:pt x="1436673" y="53186"/>
                    <a:pt x="1436673" y="72383"/>
                  </a:cubicBezTo>
                  <a:lnTo>
                    <a:pt x="1436673" y="972389"/>
                  </a:lnTo>
                  <a:cubicBezTo>
                    <a:pt x="1436673" y="1012365"/>
                    <a:pt x="1404267" y="1044772"/>
                    <a:pt x="1364291" y="1044772"/>
                  </a:cubicBezTo>
                  <a:lnTo>
                    <a:pt x="72383" y="1044772"/>
                  </a:lnTo>
                  <a:cubicBezTo>
                    <a:pt x="53186" y="1044772"/>
                    <a:pt x="34775" y="1037146"/>
                    <a:pt x="21200" y="1023571"/>
                  </a:cubicBezTo>
                  <a:cubicBezTo>
                    <a:pt x="7626" y="1009997"/>
                    <a:pt x="0" y="991586"/>
                    <a:pt x="0" y="972389"/>
                  </a:cubicBezTo>
                  <a:lnTo>
                    <a:pt x="0" y="72383"/>
                  </a:lnTo>
                  <a:cubicBezTo>
                    <a:pt x="0" y="53186"/>
                    <a:pt x="7626" y="34775"/>
                    <a:pt x="21200" y="21200"/>
                  </a:cubicBezTo>
                  <a:cubicBezTo>
                    <a:pt x="34775" y="7626"/>
                    <a:pt x="53186" y="0"/>
                    <a:pt x="723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36673" cy="1101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88422" y="589530"/>
            <a:ext cx="8974490" cy="158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6"/>
              </a:lnSpc>
            </a:pPr>
            <a:r>
              <a:rPr lang="en-US" sz="6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Churn Prediction using BG/NBD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3438" y="2499951"/>
            <a:ext cx="1813894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BG/NBD ( Beta Geometric / Negative Binomial Distribution)  is a model used to estimate how many times a customer may purchase in the future.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438" y="3408637"/>
            <a:ext cx="8765143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does it do?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predicts: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purchases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Probability that a customer is still active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Churn risk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04398" y="3711493"/>
            <a:ext cx="5120730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Churn Risk → The likelih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ood that the customer has stopped purchasing.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Churn Risk = 1 − Probability Alive</a:t>
            </a: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considered a customer churned when Probability Alive &lt; 0.20.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7813885">
            <a:off x="12746642" y="8009596"/>
            <a:ext cx="3329229" cy="1082474"/>
            <a:chOff x="0" y="0"/>
            <a:chExt cx="1249914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3378727">
            <a:off x="14120298" y="8074473"/>
            <a:ext cx="3329229" cy="1082474"/>
            <a:chOff x="0" y="0"/>
            <a:chExt cx="1249914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9914" cy="406400"/>
            </a:xfrm>
            <a:custGeom>
              <a:avLst/>
              <a:gdLst/>
              <a:ahLst/>
              <a:cxnLst/>
              <a:rect r="r" b="b" t="t" l="l"/>
              <a:pathLst>
                <a:path h="406400" w="1249914">
                  <a:moveTo>
                    <a:pt x="1046714" y="0"/>
                  </a:moveTo>
                  <a:cubicBezTo>
                    <a:pt x="1158938" y="0"/>
                    <a:pt x="1249914" y="90976"/>
                    <a:pt x="1249914" y="203200"/>
                  </a:cubicBezTo>
                  <a:cubicBezTo>
                    <a:pt x="1249914" y="315424"/>
                    <a:pt x="1158938" y="406400"/>
                    <a:pt x="10467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499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3378727">
            <a:off x="15795628" y="9062193"/>
            <a:ext cx="1142095" cy="114209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3378727">
            <a:off x="12991803" y="8991262"/>
            <a:ext cx="1142095" cy="114209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3438" y="3412425"/>
            <a:ext cx="6064070" cy="4885147"/>
            <a:chOff x="0" y="0"/>
            <a:chExt cx="1597121" cy="128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121" cy="1286623"/>
            </a:xfrm>
            <a:custGeom>
              <a:avLst/>
              <a:gdLst/>
              <a:ahLst/>
              <a:cxnLst/>
              <a:rect r="r" b="b" t="t" l="l"/>
              <a:pathLst>
                <a:path h="1286623" w="1597121">
                  <a:moveTo>
                    <a:pt x="65111" y="0"/>
                  </a:moveTo>
                  <a:lnTo>
                    <a:pt x="1532010" y="0"/>
                  </a:lnTo>
                  <a:cubicBezTo>
                    <a:pt x="1549279" y="0"/>
                    <a:pt x="1565840" y="6860"/>
                    <a:pt x="1578051" y="19071"/>
                  </a:cubicBezTo>
                  <a:cubicBezTo>
                    <a:pt x="1590261" y="31281"/>
                    <a:pt x="1597121" y="47843"/>
                    <a:pt x="1597121" y="65111"/>
                  </a:cubicBezTo>
                  <a:lnTo>
                    <a:pt x="1597121" y="1221512"/>
                  </a:lnTo>
                  <a:cubicBezTo>
                    <a:pt x="1597121" y="1238781"/>
                    <a:pt x="1590261" y="1255342"/>
                    <a:pt x="1578051" y="1267553"/>
                  </a:cubicBezTo>
                  <a:cubicBezTo>
                    <a:pt x="1565840" y="1279763"/>
                    <a:pt x="1549279" y="1286623"/>
                    <a:pt x="1532010" y="1286623"/>
                  </a:cubicBezTo>
                  <a:lnTo>
                    <a:pt x="65111" y="1286623"/>
                  </a:lnTo>
                  <a:cubicBezTo>
                    <a:pt x="47843" y="1286623"/>
                    <a:pt x="31281" y="1279763"/>
                    <a:pt x="19071" y="1267553"/>
                  </a:cubicBezTo>
                  <a:cubicBezTo>
                    <a:pt x="6860" y="1255342"/>
                    <a:pt x="0" y="1238781"/>
                    <a:pt x="0" y="1221512"/>
                  </a:cubicBezTo>
                  <a:lnTo>
                    <a:pt x="0" y="65111"/>
                  </a:lnTo>
                  <a:cubicBezTo>
                    <a:pt x="0" y="47843"/>
                    <a:pt x="6860" y="31281"/>
                    <a:pt x="19071" y="19071"/>
                  </a:cubicBezTo>
                  <a:cubicBezTo>
                    <a:pt x="31281" y="6860"/>
                    <a:pt x="47843" y="0"/>
                    <a:pt x="651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97121" cy="1343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9598" y="3255645"/>
            <a:ext cx="6182826" cy="5041927"/>
            <a:chOff x="0" y="0"/>
            <a:chExt cx="1628399" cy="1327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8399" cy="1327915"/>
            </a:xfrm>
            <a:custGeom>
              <a:avLst/>
              <a:gdLst/>
              <a:ahLst/>
              <a:cxnLst/>
              <a:rect r="r" b="b" t="t" l="l"/>
              <a:pathLst>
                <a:path h="1327915" w="1628399">
                  <a:moveTo>
                    <a:pt x="63860" y="0"/>
                  </a:moveTo>
                  <a:lnTo>
                    <a:pt x="1564538" y="0"/>
                  </a:lnTo>
                  <a:cubicBezTo>
                    <a:pt x="1599807" y="0"/>
                    <a:pt x="1628399" y="28591"/>
                    <a:pt x="1628399" y="63860"/>
                  </a:cubicBezTo>
                  <a:lnTo>
                    <a:pt x="1628399" y="1264054"/>
                  </a:lnTo>
                  <a:cubicBezTo>
                    <a:pt x="1628399" y="1299324"/>
                    <a:pt x="1599807" y="1327915"/>
                    <a:pt x="1564538" y="1327915"/>
                  </a:cubicBezTo>
                  <a:lnTo>
                    <a:pt x="63860" y="1327915"/>
                  </a:lnTo>
                  <a:cubicBezTo>
                    <a:pt x="28591" y="1327915"/>
                    <a:pt x="0" y="1299324"/>
                    <a:pt x="0" y="1264054"/>
                  </a:cubicBezTo>
                  <a:lnTo>
                    <a:pt x="0" y="63860"/>
                  </a:lnTo>
                  <a:cubicBezTo>
                    <a:pt x="0" y="28591"/>
                    <a:pt x="28591" y="0"/>
                    <a:pt x="638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28399" cy="1385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935066" y="3756055"/>
            <a:ext cx="609391" cy="539311"/>
          </a:xfrm>
          <a:custGeom>
            <a:avLst/>
            <a:gdLst/>
            <a:ahLst/>
            <a:cxnLst/>
            <a:rect r="r" b="b" t="t" l="l"/>
            <a:pathLst>
              <a:path h="539311" w="609391">
                <a:moveTo>
                  <a:pt x="0" y="0"/>
                </a:moveTo>
                <a:lnTo>
                  <a:pt x="609391" y="0"/>
                </a:lnTo>
                <a:lnTo>
                  <a:pt x="609391" y="539312"/>
                </a:lnTo>
                <a:lnTo>
                  <a:pt x="0" y="53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6758" y="662130"/>
            <a:ext cx="17028363" cy="160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2"/>
              </a:lnSpc>
            </a:pPr>
            <a:r>
              <a:rPr lang="en-US" sz="62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CLTV PREDICTION &amp; CUSTOMER SEGEMENTATION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0913" y="3780983"/>
            <a:ext cx="302692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CLTV Prediction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94046" y="3727896"/>
            <a:ext cx="4541020" cy="50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Segmentation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9313" y="8511540"/>
            <a:ext cx="577536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CLTV = How much value a customer is expected to generate in the future.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7062" y="4857234"/>
            <a:ext cx="577536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BG/NBD (Predicts future purchases)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9313" y="5567065"/>
            <a:ext cx="577536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Gamma-Gamma Model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(Estimates future spending)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9313" y="6854210"/>
            <a:ext cx="577536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CLTV ( Predicted customer value)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35" y="5281950"/>
            <a:ext cx="577536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35" y="6430665"/>
            <a:ext cx="577536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13797" y="6060375"/>
            <a:ext cx="5775362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 Customer Segments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Champions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Loyal Customers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At-Risk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Hibernating/Lost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13797" y="4713560"/>
            <a:ext cx="577536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K- Means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(Groups similar customers)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64399" y="5655291"/>
            <a:ext cx="577536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822324" y="-139890"/>
            <a:ext cx="2776691" cy="1116957"/>
            <a:chOff x="0" y="0"/>
            <a:chExt cx="1010287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0287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87">
                  <a:moveTo>
                    <a:pt x="807087" y="0"/>
                  </a:moveTo>
                  <a:cubicBezTo>
                    <a:pt x="919312" y="0"/>
                    <a:pt x="1010287" y="90976"/>
                    <a:pt x="1010287" y="203200"/>
                  </a:cubicBezTo>
                  <a:cubicBezTo>
                    <a:pt x="1010287" y="315424"/>
                    <a:pt x="919312" y="406400"/>
                    <a:pt x="807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1028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4593057" y="-139890"/>
            <a:ext cx="2776536" cy="1116957"/>
            <a:chOff x="0" y="0"/>
            <a:chExt cx="1010231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0231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31">
                  <a:moveTo>
                    <a:pt x="807031" y="0"/>
                  </a:moveTo>
                  <a:cubicBezTo>
                    <a:pt x="919255" y="0"/>
                    <a:pt x="1010231" y="90976"/>
                    <a:pt x="1010231" y="203200"/>
                  </a:cubicBezTo>
                  <a:cubicBezTo>
                    <a:pt x="1010231" y="315424"/>
                    <a:pt x="919255" y="406400"/>
                    <a:pt x="8070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1023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6518491" y="-139890"/>
            <a:ext cx="3138708" cy="1116957"/>
            <a:chOff x="0" y="0"/>
            <a:chExt cx="1142006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2006" cy="406400"/>
            </a:xfrm>
            <a:custGeom>
              <a:avLst/>
              <a:gdLst/>
              <a:ahLst/>
              <a:cxnLst/>
              <a:rect r="r" b="b" t="t" l="l"/>
              <a:pathLst>
                <a:path h="406400" w="1142006">
                  <a:moveTo>
                    <a:pt x="938806" y="0"/>
                  </a:moveTo>
                  <a:cubicBezTo>
                    <a:pt x="1051030" y="0"/>
                    <a:pt x="1142006" y="90976"/>
                    <a:pt x="1142006" y="203200"/>
                  </a:cubicBezTo>
                  <a:cubicBezTo>
                    <a:pt x="1142006" y="315424"/>
                    <a:pt x="1051030" y="406400"/>
                    <a:pt x="9388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14200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93057" y="-139890"/>
            <a:ext cx="1168590" cy="116859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127020" y="9440572"/>
            <a:ext cx="2776691" cy="1116957"/>
            <a:chOff x="0" y="0"/>
            <a:chExt cx="1010287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0287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87">
                  <a:moveTo>
                    <a:pt x="807087" y="0"/>
                  </a:moveTo>
                  <a:cubicBezTo>
                    <a:pt x="919312" y="0"/>
                    <a:pt x="1010287" y="90976"/>
                    <a:pt x="1010287" y="203200"/>
                  </a:cubicBezTo>
                  <a:cubicBezTo>
                    <a:pt x="1010287" y="315424"/>
                    <a:pt x="919312" y="406400"/>
                    <a:pt x="807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1028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14897752" y="9440572"/>
            <a:ext cx="2776536" cy="1116957"/>
            <a:chOff x="0" y="0"/>
            <a:chExt cx="1010231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0231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31">
                  <a:moveTo>
                    <a:pt x="807031" y="0"/>
                  </a:moveTo>
                  <a:cubicBezTo>
                    <a:pt x="919255" y="0"/>
                    <a:pt x="1010231" y="90976"/>
                    <a:pt x="1010231" y="203200"/>
                  </a:cubicBezTo>
                  <a:cubicBezTo>
                    <a:pt x="1010231" y="315424"/>
                    <a:pt x="919255" y="406400"/>
                    <a:pt x="8070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1023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10800000">
            <a:off x="16823187" y="9440572"/>
            <a:ext cx="3138708" cy="1116957"/>
            <a:chOff x="0" y="0"/>
            <a:chExt cx="1142006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2006" cy="406400"/>
            </a:xfrm>
            <a:custGeom>
              <a:avLst/>
              <a:gdLst/>
              <a:ahLst/>
              <a:cxnLst/>
              <a:rect r="r" b="b" t="t" l="l"/>
              <a:pathLst>
                <a:path h="406400" w="1142006">
                  <a:moveTo>
                    <a:pt x="938806" y="0"/>
                  </a:moveTo>
                  <a:cubicBezTo>
                    <a:pt x="1051030" y="0"/>
                    <a:pt x="1142006" y="90976"/>
                    <a:pt x="1142006" y="203200"/>
                  </a:cubicBezTo>
                  <a:cubicBezTo>
                    <a:pt x="1142006" y="315424"/>
                    <a:pt x="1051030" y="406400"/>
                    <a:pt x="9388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14200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897752" y="9440572"/>
            <a:ext cx="1168590" cy="116859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0" y="2351405"/>
            <a:ext cx="1011755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Estimating customer value and grouping customers by behavior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2168" y="34020"/>
            <a:ext cx="15545754" cy="10218960"/>
          </a:xfrm>
          <a:custGeom>
            <a:avLst/>
            <a:gdLst/>
            <a:ahLst/>
            <a:cxnLst/>
            <a:rect r="r" b="b" t="t" l="l"/>
            <a:pathLst>
              <a:path h="10218960" w="15545754">
                <a:moveTo>
                  <a:pt x="0" y="0"/>
                </a:moveTo>
                <a:lnTo>
                  <a:pt x="15545754" y="0"/>
                </a:lnTo>
                <a:lnTo>
                  <a:pt x="15545754" y="10218960"/>
                </a:lnTo>
                <a:lnTo>
                  <a:pt x="0" y="1021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" r="0" b="-70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3830932" y="34020"/>
            <a:ext cx="2928275" cy="1116957"/>
            <a:chOff x="0" y="0"/>
            <a:chExt cx="106544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5440" cy="406400"/>
            </a:xfrm>
            <a:custGeom>
              <a:avLst/>
              <a:gdLst/>
              <a:ahLst/>
              <a:cxnLst/>
              <a:rect r="r" b="b" t="t" l="l"/>
              <a:pathLst>
                <a:path h="406400" w="1065440">
                  <a:moveTo>
                    <a:pt x="862240" y="0"/>
                  </a:moveTo>
                  <a:cubicBezTo>
                    <a:pt x="974465" y="0"/>
                    <a:pt x="1065440" y="90976"/>
                    <a:pt x="1065440" y="203200"/>
                  </a:cubicBezTo>
                  <a:cubicBezTo>
                    <a:pt x="1065440" y="315424"/>
                    <a:pt x="974465" y="406400"/>
                    <a:pt x="8622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65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6132432" y="34020"/>
            <a:ext cx="2914381" cy="1116957"/>
            <a:chOff x="0" y="0"/>
            <a:chExt cx="106038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0385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385">
                  <a:moveTo>
                    <a:pt x="857185" y="0"/>
                  </a:moveTo>
                  <a:cubicBezTo>
                    <a:pt x="969409" y="0"/>
                    <a:pt x="1060385" y="90976"/>
                    <a:pt x="1060385" y="203200"/>
                  </a:cubicBezTo>
                  <a:cubicBezTo>
                    <a:pt x="1060385" y="315424"/>
                    <a:pt x="969409" y="406400"/>
                    <a:pt x="8571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6038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55741" y="34020"/>
            <a:ext cx="1168590" cy="11685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33461" y="9309934"/>
            <a:ext cx="3081111" cy="1116957"/>
            <a:chOff x="0" y="0"/>
            <a:chExt cx="112104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1049" cy="406400"/>
            </a:xfrm>
            <a:custGeom>
              <a:avLst/>
              <a:gdLst/>
              <a:ahLst/>
              <a:cxnLst/>
              <a:rect r="r" b="b" t="t" l="l"/>
              <a:pathLst>
                <a:path h="406400" w="1121049">
                  <a:moveTo>
                    <a:pt x="917849" y="0"/>
                  </a:moveTo>
                  <a:cubicBezTo>
                    <a:pt x="1030074" y="0"/>
                    <a:pt x="1121049" y="90976"/>
                    <a:pt x="1121049" y="203200"/>
                  </a:cubicBezTo>
                  <a:cubicBezTo>
                    <a:pt x="1121049" y="315424"/>
                    <a:pt x="1030074" y="406400"/>
                    <a:pt x="917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2104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7149" y="9309934"/>
            <a:ext cx="2969957" cy="1116957"/>
            <a:chOff x="0" y="0"/>
            <a:chExt cx="1080607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607" cy="406400"/>
            </a:xfrm>
            <a:custGeom>
              <a:avLst/>
              <a:gdLst/>
              <a:ahLst/>
              <a:cxnLst/>
              <a:rect r="r" b="b" t="t" l="l"/>
              <a:pathLst>
                <a:path h="406400" w="1080607">
                  <a:moveTo>
                    <a:pt x="877407" y="0"/>
                  </a:moveTo>
                  <a:cubicBezTo>
                    <a:pt x="989631" y="0"/>
                    <a:pt x="1080607" y="90976"/>
                    <a:pt x="1080607" y="203200"/>
                  </a:cubicBezTo>
                  <a:cubicBezTo>
                    <a:pt x="1080607" y="315424"/>
                    <a:pt x="989631" y="406400"/>
                    <a:pt x="8774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8060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04725" y="9258300"/>
            <a:ext cx="1168590" cy="116859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4820" y="568930"/>
            <a:ext cx="15296572" cy="90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6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&amp; Project Outputs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4970" y="2943815"/>
            <a:ext cx="6670373" cy="6796744"/>
            <a:chOff x="0" y="0"/>
            <a:chExt cx="1756806" cy="17900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806" cy="1790089"/>
            </a:xfrm>
            <a:custGeom>
              <a:avLst/>
              <a:gdLst/>
              <a:ahLst/>
              <a:cxnLst/>
              <a:rect r="r" b="b" t="t" l="l"/>
              <a:pathLst>
                <a:path h="1790089" w="1756806">
                  <a:moveTo>
                    <a:pt x="59193" y="0"/>
                  </a:moveTo>
                  <a:lnTo>
                    <a:pt x="1697613" y="0"/>
                  </a:lnTo>
                  <a:cubicBezTo>
                    <a:pt x="1713312" y="0"/>
                    <a:pt x="1728368" y="6236"/>
                    <a:pt x="1739469" y="17337"/>
                  </a:cubicBezTo>
                  <a:cubicBezTo>
                    <a:pt x="1750570" y="28438"/>
                    <a:pt x="1756806" y="43494"/>
                    <a:pt x="1756806" y="59193"/>
                  </a:cubicBezTo>
                  <a:lnTo>
                    <a:pt x="1756806" y="1730896"/>
                  </a:lnTo>
                  <a:cubicBezTo>
                    <a:pt x="1756806" y="1746595"/>
                    <a:pt x="1750570" y="1761651"/>
                    <a:pt x="1739469" y="1772752"/>
                  </a:cubicBezTo>
                  <a:cubicBezTo>
                    <a:pt x="1728368" y="1783853"/>
                    <a:pt x="1713312" y="1790089"/>
                    <a:pt x="1697613" y="1790089"/>
                  </a:cubicBezTo>
                  <a:lnTo>
                    <a:pt x="59193" y="1790089"/>
                  </a:lnTo>
                  <a:cubicBezTo>
                    <a:pt x="26502" y="1790089"/>
                    <a:pt x="0" y="1763588"/>
                    <a:pt x="0" y="1730896"/>
                  </a:cubicBezTo>
                  <a:lnTo>
                    <a:pt x="0" y="59193"/>
                  </a:lnTo>
                  <a:cubicBezTo>
                    <a:pt x="0" y="43494"/>
                    <a:pt x="6236" y="28438"/>
                    <a:pt x="17337" y="17337"/>
                  </a:cubicBezTo>
                  <a:cubicBezTo>
                    <a:pt x="28438" y="6236"/>
                    <a:pt x="43494" y="0"/>
                    <a:pt x="591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56806" cy="184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49733" y="2943815"/>
            <a:ext cx="7309567" cy="6796744"/>
            <a:chOff x="0" y="0"/>
            <a:chExt cx="1925153" cy="17900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5153" cy="1790089"/>
            </a:xfrm>
            <a:custGeom>
              <a:avLst/>
              <a:gdLst/>
              <a:ahLst/>
              <a:cxnLst/>
              <a:rect r="r" b="b" t="t" l="l"/>
              <a:pathLst>
                <a:path h="1790089" w="1925153">
                  <a:moveTo>
                    <a:pt x="54017" y="0"/>
                  </a:moveTo>
                  <a:lnTo>
                    <a:pt x="1871137" y="0"/>
                  </a:lnTo>
                  <a:cubicBezTo>
                    <a:pt x="1900969" y="0"/>
                    <a:pt x="1925153" y="24184"/>
                    <a:pt x="1925153" y="54017"/>
                  </a:cubicBezTo>
                  <a:lnTo>
                    <a:pt x="1925153" y="1736072"/>
                  </a:lnTo>
                  <a:cubicBezTo>
                    <a:pt x="1925153" y="1750399"/>
                    <a:pt x="1919462" y="1764138"/>
                    <a:pt x="1909332" y="1774268"/>
                  </a:cubicBezTo>
                  <a:cubicBezTo>
                    <a:pt x="1899202" y="1784398"/>
                    <a:pt x="1885463" y="1790089"/>
                    <a:pt x="1871137" y="1790089"/>
                  </a:cubicBezTo>
                  <a:lnTo>
                    <a:pt x="54017" y="1790089"/>
                  </a:lnTo>
                  <a:cubicBezTo>
                    <a:pt x="24184" y="1790089"/>
                    <a:pt x="0" y="1765905"/>
                    <a:pt x="0" y="1736072"/>
                  </a:cubicBezTo>
                  <a:lnTo>
                    <a:pt x="0" y="54017"/>
                  </a:lnTo>
                  <a:cubicBezTo>
                    <a:pt x="0" y="39691"/>
                    <a:pt x="5691" y="25951"/>
                    <a:pt x="15821" y="15821"/>
                  </a:cubicBezTo>
                  <a:cubicBezTo>
                    <a:pt x="25951" y="5691"/>
                    <a:pt x="39691" y="0"/>
                    <a:pt x="54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25153" cy="1847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54820" y="1746524"/>
            <a:ext cx="5994321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Tools used and outputs generated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280" y="3975542"/>
            <a:ext cx="5353725" cy="54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🐍 Python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Main programming language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🗃 Pandas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cleaning &amp; analysis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🔢 NumPy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Numerical calculations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📊 Matplotlib / Seaborn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🤖 Scikit-Learn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K-Means clustering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📦 Lifetimes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BG/NBD &amp; Gamma-Gamma models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📄 OpenPyXL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Excel dataset handling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280" y="3261936"/>
            <a:ext cx="28028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5292" y="3261936"/>
            <a:ext cx="244125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Outputs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55111" y="3975542"/>
            <a:ext cx="5572839" cy="54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📊 RFM Customer Profiles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4,285 customer profiles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⚠️ Churn Prediction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Active / Churned classification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💰 CLTV Prediction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6-month projected customer value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👥 Customer Segmentation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 behavioral segments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📁 Final Dataset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Customer-level predictions &amp; segments</a:t>
            </a: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13888934" y="0"/>
            <a:ext cx="2956063" cy="1116957"/>
            <a:chOff x="0" y="0"/>
            <a:chExt cx="107555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551" cy="406400"/>
            </a:xfrm>
            <a:custGeom>
              <a:avLst/>
              <a:gdLst/>
              <a:ahLst/>
              <a:cxnLst/>
              <a:rect r="r" b="b" t="t" l="l"/>
              <a:pathLst>
                <a:path h="406400" w="1075551">
                  <a:moveTo>
                    <a:pt x="872351" y="0"/>
                  </a:moveTo>
                  <a:cubicBezTo>
                    <a:pt x="984575" y="0"/>
                    <a:pt x="1075551" y="90976"/>
                    <a:pt x="1075551" y="203200"/>
                  </a:cubicBezTo>
                  <a:cubicBezTo>
                    <a:pt x="1075551" y="315424"/>
                    <a:pt x="984575" y="406400"/>
                    <a:pt x="8723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7555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6218067" y="0"/>
            <a:ext cx="2914535" cy="1116957"/>
            <a:chOff x="0" y="0"/>
            <a:chExt cx="1060441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441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441">
                  <a:moveTo>
                    <a:pt x="857241" y="0"/>
                  </a:moveTo>
                  <a:cubicBezTo>
                    <a:pt x="969466" y="0"/>
                    <a:pt x="1060441" y="90976"/>
                    <a:pt x="1060441" y="203200"/>
                  </a:cubicBezTo>
                  <a:cubicBezTo>
                    <a:pt x="1060441" y="315424"/>
                    <a:pt x="969466" y="406400"/>
                    <a:pt x="85724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60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41531" y="0"/>
            <a:ext cx="1168590" cy="116859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6029" y="4391422"/>
            <a:ext cx="2776691" cy="1116957"/>
            <a:chOff x="0" y="0"/>
            <a:chExt cx="101028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287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87">
                  <a:moveTo>
                    <a:pt x="807087" y="0"/>
                  </a:moveTo>
                  <a:cubicBezTo>
                    <a:pt x="919312" y="0"/>
                    <a:pt x="1010287" y="90976"/>
                    <a:pt x="1010287" y="203200"/>
                  </a:cubicBezTo>
                  <a:cubicBezTo>
                    <a:pt x="1010287" y="315424"/>
                    <a:pt x="919312" y="406400"/>
                    <a:pt x="807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1028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51057" y="6896155"/>
            <a:ext cx="3081111" cy="1116957"/>
            <a:chOff x="0" y="0"/>
            <a:chExt cx="112104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049" cy="406400"/>
            </a:xfrm>
            <a:custGeom>
              <a:avLst/>
              <a:gdLst/>
              <a:ahLst/>
              <a:cxnLst/>
              <a:rect r="r" b="b" t="t" l="l"/>
              <a:pathLst>
                <a:path h="406400" w="1121049">
                  <a:moveTo>
                    <a:pt x="917849" y="0"/>
                  </a:moveTo>
                  <a:cubicBezTo>
                    <a:pt x="1030074" y="0"/>
                    <a:pt x="1121049" y="90976"/>
                    <a:pt x="1121049" y="203200"/>
                  </a:cubicBezTo>
                  <a:cubicBezTo>
                    <a:pt x="1121049" y="315424"/>
                    <a:pt x="1030074" y="406400"/>
                    <a:pt x="9178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2104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6029" y="8893421"/>
            <a:ext cx="2776691" cy="1116957"/>
            <a:chOff x="0" y="0"/>
            <a:chExt cx="101028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0287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87">
                  <a:moveTo>
                    <a:pt x="807087" y="0"/>
                  </a:moveTo>
                  <a:cubicBezTo>
                    <a:pt x="919312" y="0"/>
                    <a:pt x="1010287" y="90976"/>
                    <a:pt x="1010287" y="203200"/>
                  </a:cubicBezTo>
                  <a:cubicBezTo>
                    <a:pt x="1010287" y="315424"/>
                    <a:pt x="919312" y="406400"/>
                    <a:pt x="807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1028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91667" y="6896155"/>
            <a:ext cx="2969957" cy="1116957"/>
            <a:chOff x="0" y="0"/>
            <a:chExt cx="108060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0607" cy="406400"/>
            </a:xfrm>
            <a:custGeom>
              <a:avLst/>
              <a:gdLst/>
              <a:ahLst/>
              <a:cxnLst/>
              <a:rect r="r" b="b" t="t" l="l"/>
              <a:pathLst>
                <a:path h="406400" w="1080607">
                  <a:moveTo>
                    <a:pt x="877407" y="0"/>
                  </a:moveTo>
                  <a:cubicBezTo>
                    <a:pt x="989631" y="0"/>
                    <a:pt x="1080607" y="90976"/>
                    <a:pt x="1080607" y="203200"/>
                  </a:cubicBezTo>
                  <a:cubicBezTo>
                    <a:pt x="1080607" y="315424"/>
                    <a:pt x="989631" y="406400"/>
                    <a:pt x="8774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8060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36639" y="8893421"/>
            <a:ext cx="2997746" cy="1116957"/>
            <a:chOff x="0" y="0"/>
            <a:chExt cx="1090717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0717" cy="406400"/>
            </a:xfrm>
            <a:custGeom>
              <a:avLst/>
              <a:gdLst/>
              <a:ahLst/>
              <a:cxnLst/>
              <a:rect r="r" b="b" t="t" l="l"/>
              <a:pathLst>
                <a:path h="406400" w="1090717">
                  <a:moveTo>
                    <a:pt x="887517" y="0"/>
                  </a:moveTo>
                  <a:cubicBezTo>
                    <a:pt x="999742" y="0"/>
                    <a:pt x="1090717" y="90976"/>
                    <a:pt x="1090717" y="203200"/>
                  </a:cubicBezTo>
                  <a:cubicBezTo>
                    <a:pt x="1090717" y="315424"/>
                    <a:pt x="999742" y="406400"/>
                    <a:pt x="8875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071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1866762" y="4391422"/>
            <a:ext cx="2776536" cy="1116957"/>
            <a:chOff x="0" y="0"/>
            <a:chExt cx="1010231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0231" cy="406400"/>
            </a:xfrm>
            <a:custGeom>
              <a:avLst/>
              <a:gdLst/>
              <a:ahLst/>
              <a:cxnLst/>
              <a:rect r="r" b="b" t="t" l="l"/>
              <a:pathLst>
                <a:path h="406400" w="1010231">
                  <a:moveTo>
                    <a:pt x="807031" y="0"/>
                  </a:moveTo>
                  <a:cubicBezTo>
                    <a:pt x="919255" y="0"/>
                    <a:pt x="1010231" y="90976"/>
                    <a:pt x="1010231" y="203200"/>
                  </a:cubicBezTo>
                  <a:cubicBezTo>
                    <a:pt x="1010231" y="315424"/>
                    <a:pt x="919255" y="406400"/>
                    <a:pt x="8070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1023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0571220" y="2272005"/>
            <a:ext cx="2928275" cy="1116957"/>
            <a:chOff x="0" y="0"/>
            <a:chExt cx="1065441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5440" cy="406400"/>
            </a:xfrm>
            <a:custGeom>
              <a:avLst/>
              <a:gdLst/>
              <a:ahLst/>
              <a:cxnLst/>
              <a:rect r="r" b="b" t="t" l="l"/>
              <a:pathLst>
                <a:path h="406400" w="1065440">
                  <a:moveTo>
                    <a:pt x="862240" y="0"/>
                  </a:moveTo>
                  <a:cubicBezTo>
                    <a:pt x="974465" y="0"/>
                    <a:pt x="1065440" y="90976"/>
                    <a:pt x="1065440" y="203200"/>
                  </a:cubicBezTo>
                  <a:cubicBezTo>
                    <a:pt x="1065440" y="315424"/>
                    <a:pt x="974465" y="406400"/>
                    <a:pt x="8622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65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314164" y="276622"/>
            <a:ext cx="2956063" cy="1116957"/>
            <a:chOff x="0" y="0"/>
            <a:chExt cx="1075551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5551" cy="406400"/>
            </a:xfrm>
            <a:custGeom>
              <a:avLst/>
              <a:gdLst/>
              <a:ahLst/>
              <a:cxnLst/>
              <a:rect r="r" b="b" t="t" l="l"/>
              <a:pathLst>
                <a:path h="406400" w="1075551">
                  <a:moveTo>
                    <a:pt x="872351" y="0"/>
                  </a:moveTo>
                  <a:cubicBezTo>
                    <a:pt x="984575" y="0"/>
                    <a:pt x="1075551" y="90976"/>
                    <a:pt x="1075551" y="203200"/>
                  </a:cubicBezTo>
                  <a:cubicBezTo>
                    <a:pt x="1075551" y="315424"/>
                    <a:pt x="984575" y="406400"/>
                    <a:pt x="8723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7555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3792196" y="4391422"/>
            <a:ext cx="3138708" cy="1116957"/>
            <a:chOff x="0" y="0"/>
            <a:chExt cx="1142006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2006" cy="406400"/>
            </a:xfrm>
            <a:custGeom>
              <a:avLst/>
              <a:gdLst/>
              <a:ahLst/>
              <a:cxnLst/>
              <a:rect r="r" b="b" t="t" l="l"/>
              <a:pathLst>
                <a:path h="406400" w="1142006">
                  <a:moveTo>
                    <a:pt x="938806" y="0"/>
                  </a:moveTo>
                  <a:cubicBezTo>
                    <a:pt x="1051030" y="0"/>
                    <a:pt x="1142006" y="90976"/>
                    <a:pt x="1142006" y="203200"/>
                  </a:cubicBezTo>
                  <a:cubicBezTo>
                    <a:pt x="1142006" y="315424"/>
                    <a:pt x="1051030" y="406400"/>
                    <a:pt x="9388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4200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2872720" y="2272005"/>
            <a:ext cx="2914381" cy="1116957"/>
            <a:chOff x="0" y="0"/>
            <a:chExt cx="1060385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385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385">
                  <a:moveTo>
                    <a:pt x="857185" y="0"/>
                  </a:moveTo>
                  <a:cubicBezTo>
                    <a:pt x="969409" y="0"/>
                    <a:pt x="1060385" y="90976"/>
                    <a:pt x="1060385" y="203200"/>
                  </a:cubicBezTo>
                  <a:cubicBezTo>
                    <a:pt x="1060385" y="315424"/>
                    <a:pt x="969409" y="406400"/>
                    <a:pt x="8571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F2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6038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4643298" y="276622"/>
            <a:ext cx="2914535" cy="1116957"/>
            <a:chOff x="0" y="0"/>
            <a:chExt cx="1060441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0441" cy="406400"/>
            </a:xfrm>
            <a:custGeom>
              <a:avLst/>
              <a:gdLst/>
              <a:ahLst/>
              <a:cxnLst/>
              <a:rect r="r" b="b" t="t" l="l"/>
              <a:pathLst>
                <a:path h="406400" w="1060441">
                  <a:moveTo>
                    <a:pt x="857241" y="0"/>
                  </a:moveTo>
                  <a:cubicBezTo>
                    <a:pt x="969466" y="0"/>
                    <a:pt x="1060441" y="90976"/>
                    <a:pt x="1060441" y="203200"/>
                  </a:cubicBezTo>
                  <a:cubicBezTo>
                    <a:pt x="1060441" y="315424"/>
                    <a:pt x="969466" y="406400"/>
                    <a:pt x="85724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6B6D4">
                    <a:alpha val="100000"/>
                  </a:srgbClr>
                </a:gs>
                <a:gs pos="100000">
                  <a:srgbClr val="F8FAFC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604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66762" y="4391422"/>
            <a:ext cx="1168590" cy="116859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389243" y="6844522"/>
            <a:ext cx="1168590" cy="116859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034215" y="8841787"/>
            <a:ext cx="1168590" cy="116859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96029" y="2272005"/>
            <a:ext cx="1168590" cy="116859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66762" y="276622"/>
            <a:ext cx="1168590" cy="1168590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28700" y="2420908"/>
            <a:ext cx="7324254" cy="262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39"/>
              </a:lnSpc>
            </a:pPr>
            <a:r>
              <a:rPr lang="en-US" sz="145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2644" y="4040450"/>
            <a:ext cx="7349117" cy="262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39"/>
              </a:lnSpc>
            </a:pPr>
            <a:r>
              <a:rPr lang="en-US" sz="14599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DAHWYiirj3U</dc:identifier>
  <dcterms:modified xsi:type="dcterms:W3CDTF">2011-08-01T06:04:30Z</dcterms:modified>
  <cp:revision>1</cp:revision>
  <dc:title>Purple Navy Simple Tech Tool Comparison Slide Presentation</dc:title>
</cp:coreProperties>
</file>